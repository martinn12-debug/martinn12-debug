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Merriweather" panose="00000500000000000000" pitchFamily="2" charset="0"/>
      <p:regular r:id="rId16"/>
      <p:bold r:id="rId17"/>
      <p:italic r:id="rId18"/>
      <p:boldItalic r:id="rId19"/>
    </p:embeddedFont>
    <p:embeddedFont>
      <p:font typeface="Roboto" panose="020000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804" y="9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4c46eb185cb26f9b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4c46eb185cb26f9b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4c46eb185cb26f9b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4c46eb185cb26f9b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4c46eb185cb26f9b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4c46eb185cb26f9b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4c46eb185cb26f9b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4c46eb185cb26f9b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4c46eb185cb26f9b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4c46eb185cb26f9b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4c46eb185cb26f9b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4c46eb185cb26f9b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4c46eb185cb26f9b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4c46eb185cb26f9b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4c46eb185cb26f9b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4c46eb185cb26f9b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4c46eb185cb26f9b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4c46eb185cb26f9b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4c46eb185cb26f9b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4c46eb185cb26f9b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4c46eb185cb26f9b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4c46eb185cb26f9b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4c46eb185cb26f9b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4c46eb185cb26f9b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datareportal.com/social-media-user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www.un.org/en/un75/impact-digital-technologies" TargetMode="External"/><Relationship Id="rId5" Type="http://schemas.openxmlformats.org/officeDocument/2006/relationships/hyperlink" Target="https://www.who.int/europe/news/item/25-09-2024-teens--screens-and-mental-health" TargetMode="External"/><Relationship Id="rId4" Type="http://schemas.openxmlformats.org/officeDocument/2006/relationships/hyperlink" Target="https://pmc.ncbi.nlm.nih.gov/articles/PMC1137315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Social Media Tech And How It Effects Modern Society </a:t>
            </a:r>
            <a:endParaRPr/>
          </a:p>
        </p:txBody>
      </p:sp>
      <p:sp>
        <p:nvSpPr>
          <p:cNvPr id="65" name="Google Shape;65;p13"/>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By: Nathaniel Martin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Evolution of Social Media Technology </a:t>
            </a:r>
            <a:endParaRPr/>
          </a:p>
        </p:txBody>
      </p:sp>
      <p:sp>
        <p:nvSpPr>
          <p:cNvPr id="71" name="Google Shape;71;p1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Social media grew quickly as new devices and tools appeared. This growth changed how people share information and stay connected around the world.</a:t>
            </a:r>
            <a:endParaRPr/>
          </a:p>
          <a:p>
            <a:pPr marL="0" lvl="0" indent="0" algn="l" rtl="0">
              <a:spcBef>
                <a:spcPts val="1200"/>
              </a:spcBef>
              <a:spcAft>
                <a:spcPts val="0"/>
              </a:spcAft>
              <a:buNone/>
            </a:pPr>
            <a:r>
              <a:rPr lang="en"/>
              <a:t>	•	Early platforms were simple</a:t>
            </a:r>
            <a:endParaRPr/>
          </a:p>
          <a:p>
            <a:pPr marL="0" lvl="0" indent="0" algn="l" rtl="0">
              <a:spcBef>
                <a:spcPts val="1200"/>
              </a:spcBef>
              <a:spcAft>
                <a:spcPts val="0"/>
              </a:spcAft>
              <a:buNone/>
            </a:pPr>
            <a:r>
              <a:rPr lang="en"/>
              <a:t>	•	Features expanded/ evolved over time</a:t>
            </a:r>
            <a:endParaRPr/>
          </a:p>
          <a:p>
            <a:pPr marL="0" lvl="0" indent="0" algn="l" rtl="0">
              <a:spcBef>
                <a:spcPts val="1200"/>
              </a:spcBef>
              <a:spcAft>
                <a:spcPts val="1200"/>
              </a:spcAft>
              <a:buNone/>
            </a:pPr>
            <a:r>
              <a:rPr lang="en"/>
              <a:t>	•	More global accessibility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Rise of Mobile Devices </a:t>
            </a:r>
            <a:endParaRPr/>
          </a:p>
        </p:txBody>
      </p:sp>
      <p:sp>
        <p:nvSpPr>
          <p:cNvPr id="77" name="Google Shape;77;p15"/>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Smartphones made social media a constant part of daily life. People no longer needed to wait to go online  they could simply connect anywhere at anytime.</a:t>
            </a:r>
            <a:endParaRPr/>
          </a:p>
          <a:p>
            <a:pPr marL="457200" lvl="0" indent="-311150" algn="l" rtl="0">
              <a:spcBef>
                <a:spcPts val="1200"/>
              </a:spcBef>
              <a:spcAft>
                <a:spcPts val="0"/>
              </a:spcAft>
              <a:buSzPts val="1300"/>
              <a:buChar char="●"/>
            </a:pPr>
            <a:r>
              <a:rPr lang="en"/>
              <a:t>Easy photo and video sharing</a:t>
            </a:r>
            <a:endParaRPr/>
          </a:p>
          <a:p>
            <a:pPr marL="457200" lvl="0" indent="-311150" algn="l" rtl="0">
              <a:spcBef>
                <a:spcPts val="0"/>
              </a:spcBef>
              <a:spcAft>
                <a:spcPts val="0"/>
              </a:spcAft>
              <a:buSzPts val="1300"/>
              <a:buChar char="●"/>
            </a:pPr>
            <a:r>
              <a:rPr lang="en"/>
              <a:t>Real-time posting and messaging</a:t>
            </a:r>
            <a:endParaRPr/>
          </a:p>
          <a:p>
            <a:pPr marL="457200" lvl="0" indent="-311150" algn="l" rtl="0">
              <a:spcBef>
                <a:spcPts val="0"/>
              </a:spcBef>
              <a:spcAft>
                <a:spcPts val="0"/>
              </a:spcAft>
              <a:buSzPts val="1300"/>
              <a:buChar char="●"/>
            </a:pPr>
            <a:r>
              <a:rPr lang="en"/>
              <a:t>Continuous access throughout the day</a:t>
            </a:r>
            <a:endParaRPr/>
          </a:p>
        </p:txBody>
      </p:sp>
      <p:pic>
        <p:nvPicPr>
          <p:cNvPr id="78" name="Google Shape;78;p15"/>
          <p:cNvPicPr preferRelativeResize="0"/>
          <p:nvPr/>
        </p:nvPicPr>
        <p:blipFill>
          <a:blip r:embed="rId3">
            <a:alphaModFix/>
          </a:blip>
          <a:stretch>
            <a:fillRect/>
          </a:stretch>
        </p:blipFill>
        <p:spPr>
          <a:xfrm>
            <a:off x="4475775" y="3489166"/>
            <a:ext cx="1875725" cy="1250475"/>
          </a:xfrm>
          <a:prstGeom prst="rect">
            <a:avLst/>
          </a:prstGeom>
          <a:noFill/>
          <a:ln>
            <a:noFill/>
          </a:ln>
        </p:spPr>
      </p:pic>
      <p:sp>
        <p:nvSpPr>
          <p:cNvPr id="79" name="Google Shape;79;p15"/>
          <p:cNvSpPr/>
          <p:nvPr/>
        </p:nvSpPr>
        <p:spPr>
          <a:xfrm>
            <a:off x="6657461" y="3858513"/>
            <a:ext cx="701100" cy="511800"/>
          </a:xfrm>
          <a:prstGeom prst="rightArrow">
            <a:avLst>
              <a:gd name="adj1" fmla="val 30557"/>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pic>
        <p:nvPicPr>
          <p:cNvPr id="80" name="Google Shape;80;p15"/>
          <p:cNvPicPr preferRelativeResize="0"/>
          <p:nvPr/>
        </p:nvPicPr>
        <p:blipFill rotWithShape="1">
          <a:blip r:embed="rId4">
            <a:alphaModFix/>
          </a:blip>
          <a:srcRect l="40432" t="7469" r="39053" b="3925"/>
          <a:stretch/>
        </p:blipFill>
        <p:spPr>
          <a:xfrm>
            <a:off x="7664497" y="3260750"/>
            <a:ext cx="943949" cy="1567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Multi-Media Adaptation</a:t>
            </a:r>
            <a:endParaRPr/>
          </a:p>
        </p:txBody>
      </p:sp>
      <p:sp>
        <p:nvSpPr>
          <p:cNvPr id="86" name="Google Shape;86;p16"/>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Modern social media changed when platforms began focusing on photos, videos, and visual creativity. These tools made it easier for people to tell stories, share moments, and build their own online style.</a:t>
            </a:r>
            <a:endParaRPr/>
          </a:p>
        </p:txBody>
      </p:sp>
      <p:sp>
        <p:nvSpPr>
          <p:cNvPr id="87" name="Google Shape;87;p16"/>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High quality phone cameras made clear photos and videos easy</a:t>
            </a:r>
            <a:endParaRPr/>
          </a:p>
          <a:p>
            <a:pPr marL="457200" lvl="0" indent="-311150" algn="l" rtl="0">
              <a:spcBef>
                <a:spcPts val="0"/>
              </a:spcBef>
              <a:spcAft>
                <a:spcPts val="0"/>
              </a:spcAft>
              <a:buSzPts val="1300"/>
              <a:buChar char="●"/>
            </a:pPr>
            <a:r>
              <a:rPr lang="en"/>
              <a:t>Editing tools let users add effects, music, and filters</a:t>
            </a:r>
            <a:endParaRPr/>
          </a:p>
          <a:p>
            <a:pPr marL="457200" lvl="0" indent="-311150" algn="l" rtl="0">
              <a:spcBef>
                <a:spcPts val="0"/>
              </a:spcBef>
              <a:spcAft>
                <a:spcPts val="0"/>
              </a:spcAft>
              <a:buSzPts val="1300"/>
              <a:buChar char="●"/>
            </a:pPr>
            <a:r>
              <a:rPr lang="en"/>
              <a:t>Platforms like TikTok and Instagram built their entire design around visuals</a:t>
            </a:r>
            <a:endParaRPr/>
          </a:p>
          <a:p>
            <a:pPr marL="457200" lvl="0" indent="-311150" algn="l" rtl="0">
              <a:spcBef>
                <a:spcPts val="0"/>
              </a:spcBef>
              <a:spcAft>
                <a:spcPts val="0"/>
              </a:spcAft>
              <a:buSzPts val="1300"/>
              <a:buChar char="●"/>
            </a:pPr>
            <a:r>
              <a:rPr lang="en"/>
              <a:t>Creative trends, challenges, and short videos became major parts of online culture</a:t>
            </a:r>
            <a:endParaRPr/>
          </a:p>
          <a:p>
            <a:pPr marL="0" lvl="0" indent="0" algn="l" rtl="0">
              <a:spcBef>
                <a:spcPts val="1200"/>
              </a:spcBef>
              <a:spcAft>
                <a:spcPts val="120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Algorithm</a:t>
            </a:r>
            <a:endParaRPr/>
          </a:p>
        </p:txBody>
      </p:sp>
      <p:sp>
        <p:nvSpPr>
          <p:cNvPr id="93" name="Google Shape;93;p17"/>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Many people ask what is the algorithm? Algorithms make social media feel personal by curating each feed to its user, but they also create several issues that affect how people think and behave. These problems come from seeing the same type of content too often and becoming unaware of how much the platform influences daily life.</a:t>
            </a:r>
            <a:endParaRPr/>
          </a:p>
        </p:txBody>
      </p:sp>
      <p:sp>
        <p:nvSpPr>
          <p:cNvPr id="94" name="Google Shape;94;p17"/>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Content shown depends on past behavior</a:t>
            </a:r>
            <a:endParaRPr/>
          </a:p>
          <a:p>
            <a:pPr marL="457200" lvl="0" indent="-311150" algn="l" rtl="0">
              <a:spcBef>
                <a:spcPts val="0"/>
              </a:spcBef>
              <a:spcAft>
                <a:spcPts val="0"/>
              </a:spcAft>
              <a:buSzPts val="1300"/>
              <a:buChar char="●"/>
            </a:pPr>
            <a:r>
              <a:rPr lang="en"/>
              <a:t>Users may see limited viewpoints</a:t>
            </a:r>
            <a:endParaRPr/>
          </a:p>
          <a:p>
            <a:pPr marL="457200" lvl="0" indent="-311150" algn="l" rtl="0">
              <a:spcBef>
                <a:spcPts val="0"/>
              </a:spcBef>
              <a:spcAft>
                <a:spcPts val="0"/>
              </a:spcAft>
              <a:buSzPts val="1300"/>
              <a:buChar char="●"/>
            </a:pPr>
            <a:r>
              <a:rPr lang="en"/>
              <a:t>Online beliefs can be shaped without noticing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Artificial Intelligence (AI) in Social Media</a:t>
            </a:r>
            <a:endParaRPr/>
          </a:p>
        </p:txBody>
      </p:sp>
      <p:sp>
        <p:nvSpPr>
          <p:cNvPr id="100" name="Google Shape;100;p18"/>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Artificial intelligence helps social media run by checking posts, learning patterns, and managing large amounts of information. It makes platforms faster and safer, but it also brings concerns because it uses a lot of personal data. AI can be helpful, but it can also make mistakes, so people need to understand how it works.</a:t>
            </a:r>
            <a:endParaRPr/>
          </a:p>
          <a:p>
            <a:pPr marL="457200" lvl="0" indent="-311150" algn="l" rtl="0">
              <a:spcBef>
                <a:spcPts val="1200"/>
              </a:spcBef>
              <a:spcAft>
                <a:spcPts val="0"/>
              </a:spcAft>
              <a:buSzPts val="1300"/>
              <a:buChar char="●"/>
            </a:pPr>
            <a:r>
              <a:rPr lang="en"/>
              <a:t>Reviews large amounts of posts</a:t>
            </a:r>
            <a:endParaRPr/>
          </a:p>
          <a:p>
            <a:pPr marL="457200" lvl="0" indent="-311150" algn="l" rtl="0">
              <a:spcBef>
                <a:spcPts val="0"/>
              </a:spcBef>
              <a:spcAft>
                <a:spcPts val="0"/>
              </a:spcAft>
              <a:buSzPts val="1300"/>
              <a:buChar char="●"/>
            </a:pPr>
            <a:r>
              <a:rPr lang="en"/>
              <a:t>Helps remove inappropriate content</a:t>
            </a:r>
            <a:endParaRPr/>
          </a:p>
          <a:p>
            <a:pPr marL="457200" lvl="0" indent="-311150" algn="l" rtl="0">
              <a:spcBef>
                <a:spcPts val="0"/>
              </a:spcBef>
              <a:spcAft>
                <a:spcPts val="0"/>
              </a:spcAft>
              <a:buSzPts val="1300"/>
              <a:buChar char="●"/>
            </a:pPr>
            <a:r>
              <a:rPr lang="en"/>
              <a:t>Sometimes makes mistakes or misreads context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Evolution Positives</a:t>
            </a:r>
            <a:endParaRPr/>
          </a:p>
        </p:txBody>
      </p:sp>
      <p:sp>
        <p:nvSpPr>
          <p:cNvPr id="106" name="Google Shape;106;p19"/>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Through its continued growth and evolution, social media makes it easier for people to learn, connect, and grow. It supports communication across long distances and creates new chances for work.</a:t>
            </a:r>
            <a:endParaRPr/>
          </a:p>
          <a:p>
            <a:pPr marL="457200" lvl="0" indent="-311150" algn="l" rtl="0">
              <a:spcBef>
                <a:spcPts val="1200"/>
              </a:spcBef>
              <a:spcAft>
                <a:spcPts val="0"/>
              </a:spcAft>
              <a:buSzPts val="1300"/>
              <a:buChar char="●"/>
            </a:pPr>
            <a:r>
              <a:rPr lang="en"/>
              <a:t>Global connection</a:t>
            </a:r>
            <a:endParaRPr/>
          </a:p>
          <a:p>
            <a:pPr marL="457200" lvl="0" indent="-311150" algn="l" rtl="0">
              <a:spcBef>
                <a:spcPts val="0"/>
              </a:spcBef>
              <a:spcAft>
                <a:spcPts val="0"/>
              </a:spcAft>
              <a:buSzPts val="1300"/>
              <a:buChar char="●"/>
            </a:pPr>
            <a:r>
              <a:rPr lang="en"/>
              <a:t>Business marketing and online stores</a:t>
            </a:r>
            <a:endParaRPr/>
          </a:p>
          <a:p>
            <a:pPr marL="457200" lvl="0" indent="-311150" algn="l" rtl="0">
              <a:spcBef>
                <a:spcPts val="0"/>
              </a:spcBef>
              <a:spcAft>
                <a:spcPts val="0"/>
              </a:spcAft>
              <a:buSzPts val="1300"/>
              <a:buChar char="●"/>
            </a:pPr>
            <a:r>
              <a:rPr lang="en"/>
              <a:t>Skill building and shared knowledge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0"/>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Evolution Dangers</a:t>
            </a:r>
            <a:endParaRPr/>
          </a:p>
        </p:txBody>
      </p:sp>
      <p:sp>
        <p:nvSpPr>
          <p:cNvPr id="112" name="Google Shape;112;p20"/>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Though I know we will continue to evolve our technology that doesn’t mean that it doesn’t come with its own new dangers. While helpful, social media also causes challenges for users. Too much time online can affect focus, mood, and personal privacy. Other negatives include: </a:t>
            </a:r>
            <a:endParaRPr/>
          </a:p>
          <a:p>
            <a:pPr marL="457200" lvl="0" indent="-311150" algn="l" rtl="0">
              <a:spcBef>
                <a:spcPts val="1200"/>
              </a:spcBef>
              <a:spcAft>
                <a:spcPts val="0"/>
              </a:spcAft>
              <a:buSzPts val="1300"/>
              <a:buChar char="●"/>
            </a:pPr>
            <a:r>
              <a:rPr lang="en"/>
              <a:t>Misinformation spreads quickly</a:t>
            </a:r>
            <a:endParaRPr/>
          </a:p>
          <a:p>
            <a:pPr marL="457200" lvl="0" indent="-311150" algn="l" rtl="0">
              <a:spcBef>
                <a:spcPts val="0"/>
              </a:spcBef>
              <a:spcAft>
                <a:spcPts val="0"/>
              </a:spcAft>
              <a:buSzPts val="1300"/>
              <a:buChar char="●"/>
            </a:pPr>
            <a:r>
              <a:rPr lang="en"/>
              <a:t>Privacy concerns keep growing</a:t>
            </a:r>
            <a:endParaRPr/>
          </a:p>
          <a:p>
            <a:pPr marL="457200" lvl="0" indent="-311150" algn="l" rtl="0">
              <a:spcBef>
                <a:spcPts val="0"/>
              </a:spcBef>
              <a:spcAft>
                <a:spcPts val="0"/>
              </a:spcAft>
              <a:buSzPts val="1300"/>
              <a:buChar char="●"/>
            </a:pPr>
            <a:r>
              <a:rPr lang="en"/>
              <a:t>Comparison can harm self-esteem</a:t>
            </a:r>
            <a:endParaRPr/>
          </a:p>
          <a:p>
            <a:pPr marL="457200" lvl="0" indent="-311150" algn="l" rtl="0">
              <a:spcBef>
                <a:spcPts val="0"/>
              </a:spcBef>
              <a:spcAft>
                <a:spcPts val="0"/>
              </a:spcAft>
              <a:buSzPts val="1300"/>
              <a:buChar char="●"/>
            </a:pPr>
            <a:r>
              <a:rPr lang="en"/>
              <a:t>Online pressure affects young people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Mental Health Awareness </a:t>
            </a:r>
            <a:endParaRPr/>
          </a:p>
        </p:txBody>
      </p:sp>
      <p:sp>
        <p:nvSpPr>
          <p:cNvPr id="118" name="Google Shape;118;p21"/>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Researchers have shown us that teens face emotional pressure from social media on the daily. Constant alerts, online comparison, and digital noise can affect their very well-being. Other teen sightings included:</a:t>
            </a:r>
            <a:endParaRPr/>
          </a:p>
          <a:p>
            <a:pPr marL="457200" lvl="0" indent="-311150" algn="l" rtl="0">
              <a:spcBef>
                <a:spcPts val="1200"/>
              </a:spcBef>
              <a:spcAft>
                <a:spcPts val="0"/>
              </a:spcAft>
              <a:buSzPts val="1300"/>
              <a:buChar char="●"/>
            </a:pPr>
            <a:r>
              <a:rPr lang="en"/>
              <a:t>Stress from popularity expectations</a:t>
            </a:r>
            <a:endParaRPr/>
          </a:p>
          <a:p>
            <a:pPr marL="457200" lvl="0" indent="-311150" algn="l" rtl="0">
              <a:spcBef>
                <a:spcPts val="0"/>
              </a:spcBef>
              <a:spcAft>
                <a:spcPts val="0"/>
              </a:spcAft>
              <a:buSzPts val="1300"/>
              <a:buChar char="●"/>
            </a:pPr>
            <a:r>
              <a:rPr lang="en"/>
              <a:t>Sleep disruption from long screen use</a:t>
            </a:r>
            <a:endParaRPr/>
          </a:p>
          <a:p>
            <a:pPr marL="457200" lvl="0" indent="-311150" algn="l" rtl="0">
              <a:spcBef>
                <a:spcPts val="0"/>
              </a:spcBef>
              <a:spcAft>
                <a:spcPts val="0"/>
              </a:spcAft>
              <a:buSzPts val="1300"/>
              <a:buChar char="●"/>
            </a:pPr>
            <a:r>
              <a:rPr lang="en"/>
              <a:t>Mood changes according to online feedback</a:t>
            </a:r>
            <a:endParaRPr/>
          </a:p>
        </p:txBody>
      </p:sp>
      <p:pic>
        <p:nvPicPr>
          <p:cNvPr id="119" name="Google Shape;119;p21"/>
          <p:cNvPicPr preferRelativeResize="0"/>
          <p:nvPr/>
        </p:nvPicPr>
        <p:blipFill rotWithShape="1">
          <a:blip r:embed="rId3">
            <a:alphaModFix/>
          </a:blip>
          <a:srcRect t="3755" b="3755"/>
          <a:stretch/>
        </p:blipFill>
        <p:spPr>
          <a:xfrm>
            <a:off x="5811520" y="3383285"/>
            <a:ext cx="3252600" cy="1691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Global Accessibility </a:t>
            </a:r>
            <a:endParaRPr/>
          </a:p>
        </p:txBody>
      </p:sp>
      <p:sp>
        <p:nvSpPr>
          <p:cNvPr id="125" name="Google Shape;125;p22"/>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It’s a known fact that not everyone in the world has the same access to technology. This creates gaps in people’s ability to learn, get certain jobs, and even get access to basic digital opportunities.</a:t>
            </a:r>
            <a:endParaRPr/>
          </a:p>
          <a:p>
            <a:pPr marL="457200" lvl="0" indent="-311150" algn="l" rtl="0">
              <a:spcBef>
                <a:spcPts val="1200"/>
              </a:spcBef>
              <a:spcAft>
                <a:spcPts val="0"/>
              </a:spcAft>
              <a:buSzPts val="1300"/>
              <a:buChar char="●"/>
            </a:pPr>
            <a:r>
              <a:rPr lang="en"/>
              <a:t>Some countries have limited internet access</a:t>
            </a:r>
            <a:endParaRPr/>
          </a:p>
          <a:p>
            <a:pPr marL="457200" lvl="0" indent="-311150" algn="l" rtl="0">
              <a:spcBef>
                <a:spcPts val="0"/>
              </a:spcBef>
              <a:spcAft>
                <a:spcPts val="0"/>
              </a:spcAft>
              <a:buSzPts val="1300"/>
              <a:buChar char="●"/>
            </a:pPr>
            <a:r>
              <a:rPr lang="en"/>
              <a:t>Uneven digital growth affects education</a:t>
            </a:r>
            <a:endParaRPr/>
          </a:p>
          <a:p>
            <a:pPr marL="457200" lvl="0" indent="-311150" algn="l" rtl="0">
              <a:spcBef>
                <a:spcPts val="0"/>
              </a:spcBef>
              <a:spcAft>
                <a:spcPts val="0"/>
              </a:spcAft>
              <a:buSzPts val="1300"/>
              <a:buChar char="●"/>
            </a:pPr>
            <a:r>
              <a:rPr lang="en"/>
              <a:t>Fair use of data is still a major issue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World Issues</a:t>
            </a:r>
            <a:endParaRPr/>
          </a:p>
        </p:txBody>
      </p:sp>
      <p:sp>
        <p:nvSpPr>
          <p:cNvPr id="131" name="Google Shape;131;p23"/>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Social media will keep playing a major role in world events as technology grows. More people will use digital platforms to share information, organize movements, and respond to global challenges. This means social media will continue to shape how the world deals with crises, disagreements, and important decisions.</a:t>
            </a:r>
            <a:endParaRPr/>
          </a:p>
        </p:txBody>
      </p:sp>
      <p:sp>
        <p:nvSpPr>
          <p:cNvPr id="132" name="Google Shape;132;p23"/>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
              <a:t>Online platforms will spread news about global problems faster</a:t>
            </a:r>
            <a:endParaRPr/>
          </a:p>
          <a:p>
            <a:pPr marL="457200" lvl="0" indent="-311150" algn="l" rtl="0">
              <a:spcBef>
                <a:spcPts val="0"/>
              </a:spcBef>
              <a:spcAft>
                <a:spcPts val="0"/>
              </a:spcAft>
              <a:buSzPts val="1300"/>
              <a:buChar char="●"/>
            </a:pPr>
            <a:r>
              <a:rPr lang="en"/>
              <a:t>Activists will use social media to organize and raise awareness</a:t>
            </a:r>
            <a:endParaRPr/>
          </a:p>
          <a:p>
            <a:pPr marL="457200" lvl="0" indent="-311150" algn="l" rtl="0">
              <a:spcBef>
                <a:spcPts val="0"/>
              </a:spcBef>
              <a:spcAft>
                <a:spcPts val="0"/>
              </a:spcAft>
              <a:buSzPts val="1300"/>
              <a:buChar char="●"/>
            </a:pPr>
            <a:r>
              <a:rPr lang="en"/>
              <a:t>Digital networks may influence political opinions and voting</a:t>
            </a:r>
            <a:endParaRPr/>
          </a:p>
          <a:p>
            <a:pPr marL="457200" lvl="0" indent="-311150" algn="l" rtl="0">
              <a:spcBef>
                <a:spcPts val="0"/>
              </a:spcBef>
              <a:spcAft>
                <a:spcPts val="0"/>
              </a:spcAft>
              <a:buSzPts val="1300"/>
              <a:buChar char="●"/>
            </a:pPr>
            <a:r>
              <a:rPr lang="en"/>
              <a:t>Social platforms will continue to affect how people understand conflicts</a:t>
            </a:r>
            <a:endParaRPr/>
          </a:p>
          <a:p>
            <a:pPr marL="457200" lvl="0" indent="-311150" algn="l" rtl="0">
              <a:spcBef>
                <a:spcPts val="0"/>
              </a:spcBef>
              <a:spcAft>
                <a:spcPts val="0"/>
              </a:spcAft>
              <a:buSzPts val="1300"/>
              <a:buChar char="●"/>
            </a:pPr>
            <a:r>
              <a:rPr lang="en"/>
              <a:t>False information may spread quickly during world events</a:t>
            </a:r>
            <a:endParaRPr/>
          </a:p>
          <a:p>
            <a:pPr marL="457200" lvl="0" indent="-311150" algn="l" rtl="0">
              <a:spcBef>
                <a:spcPts val="0"/>
              </a:spcBef>
              <a:spcAft>
                <a:spcPts val="0"/>
              </a:spcAft>
              <a:buSzPts val="1300"/>
              <a:buChar char="●"/>
            </a:pPr>
            <a:r>
              <a:rPr lang="en"/>
              <a:t>Social media can help communities support each other during crises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Future/ Impact of Social Media</a:t>
            </a:r>
            <a:endParaRPr/>
          </a:p>
        </p:txBody>
      </p:sp>
      <p:sp>
        <p:nvSpPr>
          <p:cNvPr id="138" name="Google Shape;138;p2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Social media will continue to grow as technology improves, and its influence will reach every part of life. It brings people together and opens new opportunities, but it also creates challenges that need careful attention. Understanding how social media works helps people use it in a healthier and more responsible way.</a:t>
            </a:r>
            <a:endParaRPr/>
          </a:p>
          <a:p>
            <a:pPr marL="457200" lvl="0" indent="-311150" algn="l" rtl="0">
              <a:spcBef>
                <a:spcPts val="1200"/>
              </a:spcBef>
              <a:spcAft>
                <a:spcPts val="0"/>
              </a:spcAft>
              <a:buSzPts val="1300"/>
              <a:buChar char="●"/>
            </a:pPr>
            <a:r>
              <a:rPr lang="en"/>
              <a:t>Social media affects communication, culture, business, and global issues</a:t>
            </a:r>
            <a:endParaRPr/>
          </a:p>
          <a:p>
            <a:pPr marL="457200" lvl="0" indent="-311150" algn="l" rtl="0">
              <a:spcBef>
                <a:spcPts val="0"/>
              </a:spcBef>
              <a:spcAft>
                <a:spcPts val="0"/>
              </a:spcAft>
              <a:buSzPts val="1300"/>
              <a:buChar char="●"/>
            </a:pPr>
            <a:r>
              <a:rPr lang="en"/>
              <a:t>New tools will make platforms even more powerful</a:t>
            </a:r>
            <a:endParaRPr/>
          </a:p>
          <a:p>
            <a:pPr marL="457200" lvl="0" indent="-311150" algn="l" rtl="0">
              <a:spcBef>
                <a:spcPts val="0"/>
              </a:spcBef>
              <a:spcAft>
                <a:spcPts val="0"/>
              </a:spcAft>
              <a:buSzPts val="1300"/>
              <a:buChar char="●"/>
            </a:pPr>
            <a:r>
              <a:rPr lang="en"/>
              <a:t>Users must stay aware of privacy, safety, and online behavior</a:t>
            </a:r>
            <a:endParaRPr/>
          </a:p>
          <a:p>
            <a:pPr marL="457200" lvl="0" indent="-311150" algn="l" rtl="0">
              <a:spcBef>
                <a:spcPts val="0"/>
              </a:spcBef>
              <a:spcAft>
                <a:spcPts val="0"/>
              </a:spcAft>
              <a:buSzPts val="1300"/>
              <a:buChar char="●"/>
            </a:pPr>
            <a:r>
              <a:rPr lang="en"/>
              <a:t>Digital education will become more important for future generations</a:t>
            </a:r>
            <a:endParaRPr/>
          </a:p>
          <a:p>
            <a:pPr marL="457200" lvl="0" indent="-311150" algn="l" rtl="0">
              <a:spcBef>
                <a:spcPts val="0"/>
              </a:spcBef>
              <a:spcAft>
                <a:spcPts val="0"/>
              </a:spcAft>
              <a:buSzPts val="1300"/>
              <a:buChar char="●"/>
            </a:pPr>
            <a:r>
              <a:rPr lang="en"/>
              <a:t>Balancing benefits and risks will shape the future of social platforms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5"/>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References</a:t>
            </a:r>
            <a:endParaRPr/>
          </a:p>
        </p:txBody>
      </p:sp>
      <p:sp>
        <p:nvSpPr>
          <p:cNvPr id="144" name="Google Shape;144;p25"/>
          <p:cNvSpPr txBox="1"/>
          <p:nvPr/>
        </p:nvSpPr>
        <p:spPr>
          <a:xfrm>
            <a:off x="548650" y="1625603"/>
            <a:ext cx="8046600" cy="2127900"/>
          </a:xfrm>
          <a:prstGeom prst="rect">
            <a:avLst/>
          </a:prstGeom>
          <a:noFill/>
          <a:ln>
            <a:noFill/>
          </a:ln>
        </p:spPr>
        <p:txBody>
          <a:bodyPr spcFirstLastPara="1" wrap="square" lIns="91425" tIns="91425" rIns="91425" bIns="91425" anchor="t" anchorCtr="0">
            <a:spAutoFit/>
          </a:bodyPr>
          <a:lstStyle/>
          <a:p>
            <a:pPr marL="457200" lvl="0" indent="-311150" algn="l" rtl="0">
              <a:lnSpc>
                <a:spcPct val="150000"/>
              </a:lnSpc>
              <a:spcBef>
                <a:spcPts val="1200"/>
              </a:spcBef>
              <a:spcAft>
                <a:spcPts val="0"/>
              </a:spcAft>
              <a:buClr>
                <a:schemeClr val="dk2"/>
              </a:buClr>
              <a:buSzPts val="1300"/>
              <a:buFont typeface="Roboto"/>
              <a:buChar char="-"/>
            </a:pPr>
            <a:r>
              <a:rPr lang="en" sz="1100">
                <a:latin typeface="Times New Roman"/>
                <a:ea typeface="Times New Roman"/>
                <a:cs typeface="Times New Roman"/>
                <a:sym typeface="Times New Roman"/>
              </a:rPr>
              <a:t>DataReportal. “Social Media Users.” DataReportal, </a:t>
            </a:r>
            <a:r>
              <a:rPr lang="en"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https://datareportal.com/social-media-users</a:t>
            </a: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marL="457200" lvl="0" indent="-311150" algn="l" rtl="0">
              <a:lnSpc>
                <a:spcPct val="150000"/>
              </a:lnSpc>
              <a:spcBef>
                <a:spcPts val="0"/>
              </a:spcBef>
              <a:spcAft>
                <a:spcPts val="0"/>
              </a:spcAft>
              <a:buClr>
                <a:schemeClr val="dk2"/>
              </a:buClr>
              <a:buSzPts val="1300"/>
              <a:buFont typeface="Roboto"/>
              <a:buChar char="-"/>
            </a:pPr>
            <a:r>
              <a:rPr lang="en" sz="1100">
                <a:latin typeface="Times New Roman"/>
                <a:ea typeface="Times New Roman"/>
                <a:cs typeface="Times New Roman"/>
                <a:sym typeface="Times New Roman"/>
              </a:rPr>
              <a:t>Kelly, Robert, et al. “Algorithmic Systems and User Behavior.” National Library of Medicine, United States National Institutes of Health, </a:t>
            </a:r>
            <a:r>
              <a:rPr lang="en"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https://pmc.ncbi.nlm.nih.gov/articles/PMC11373151</a:t>
            </a: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marL="457200" lvl="0" indent="-311150" algn="l" rtl="0">
              <a:lnSpc>
                <a:spcPct val="150000"/>
              </a:lnSpc>
              <a:spcBef>
                <a:spcPts val="0"/>
              </a:spcBef>
              <a:spcAft>
                <a:spcPts val="0"/>
              </a:spcAft>
              <a:buClr>
                <a:schemeClr val="dk2"/>
              </a:buClr>
              <a:buSzPts val="1300"/>
              <a:buFont typeface="Roboto"/>
              <a:buChar char="-"/>
            </a:pPr>
            <a:r>
              <a:rPr lang="en" sz="1100">
                <a:latin typeface="Times New Roman"/>
                <a:ea typeface="Times New Roman"/>
                <a:cs typeface="Times New Roman"/>
                <a:sym typeface="Times New Roman"/>
              </a:rPr>
              <a:t>World Health Organization. “Teens, Screens, and Mental Health.” World Health Organization Europe, </a:t>
            </a:r>
            <a:r>
              <a:rPr lang="en"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https://www.who.int/europe/news/item/25-09-2024-teens--screens-and-mental-health</a:t>
            </a:r>
            <a:r>
              <a:rPr lang="en" sz="1100">
                <a:latin typeface="Times New Roman"/>
                <a:ea typeface="Times New Roman"/>
                <a:cs typeface="Times New Roman"/>
                <a:sym typeface="Times New Roman"/>
              </a:rPr>
              <a:t>  </a:t>
            </a:r>
            <a:endParaRPr sz="1100">
              <a:latin typeface="Times New Roman"/>
              <a:ea typeface="Times New Roman"/>
              <a:cs typeface="Times New Roman"/>
              <a:sym typeface="Times New Roman"/>
            </a:endParaRPr>
          </a:p>
          <a:p>
            <a:pPr marL="457200" lvl="0" indent="-311150" algn="l" rtl="0">
              <a:lnSpc>
                <a:spcPct val="150000"/>
              </a:lnSpc>
              <a:spcBef>
                <a:spcPts val="0"/>
              </a:spcBef>
              <a:spcAft>
                <a:spcPts val="0"/>
              </a:spcAft>
              <a:buClr>
                <a:schemeClr val="dk2"/>
              </a:buClr>
              <a:buSzPts val="1300"/>
              <a:buFont typeface="Roboto"/>
              <a:buChar char="-"/>
            </a:pPr>
            <a:r>
              <a:rPr lang="en" sz="1100">
                <a:latin typeface="Times New Roman"/>
                <a:ea typeface="Times New Roman"/>
                <a:cs typeface="Times New Roman"/>
                <a:sym typeface="Times New Roman"/>
              </a:rPr>
              <a:t>United Nations. “The Impact of Digital Technologies.” UN75, United Nations, </a:t>
            </a:r>
            <a:r>
              <a:rPr lang="en"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https://www.un.org/en/un75/impact-digital-technologies</a:t>
            </a:r>
            <a:r>
              <a:rPr lang="en" sz="1100">
                <a:latin typeface="Times New Roman"/>
                <a:ea typeface="Times New Roman"/>
                <a:cs typeface="Times New Roman"/>
                <a:sym typeface="Times New Roman"/>
              </a:rPr>
              <a:t>. </a:t>
            </a:r>
            <a:endParaRPr sz="1300">
              <a:solidFill>
                <a:schemeClr val="dk2"/>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950</Words>
  <Application>Microsoft Office PowerPoint</Application>
  <PresentationFormat>On-screen Show (16:9)</PresentationFormat>
  <Paragraphs>69</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Roboto</vt:lpstr>
      <vt:lpstr>Merriweather</vt:lpstr>
      <vt:lpstr>Paradigm</vt:lpstr>
      <vt:lpstr>Social Media Tech And How It Effects Modern Society </vt:lpstr>
      <vt:lpstr>The Evolution of Social Media Technology </vt:lpstr>
      <vt:lpstr>The Rise of Mobile Devices </vt:lpstr>
      <vt:lpstr>Multi-Media Adaptation</vt:lpstr>
      <vt:lpstr>The Algorithm</vt:lpstr>
      <vt:lpstr>Artificial Intelligence (AI) in Social Media</vt:lpstr>
      <vt:lpstr>Evolution Positives</vt:lpstr>
      <vt:lpstr>Evolution Dangers</vt:lpstr>
      <vt:lpstr>Mental Health Awareness </vt:lpstr>
      <vt:lpstr>Global Accessibility </vt:lpstr>
      <vt:lpstr>World Issues</vt:lpstr>
      <vt:lpstr>The Future/ Impact of Social Media</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Media Tech And How It Effects Modern Society</dc:title>
  <dc:creator>Nathaniel Elijah Martin</dc:creator>
  <cp:lastModifiedBy>Nathaniel</cp:lastModifiedBy>
  <cp:revision>1</cp:revision>
  <dcterms:modified xsi:type="dcterms:W3CDTF">2025-12-01T19:03:42Z</dcterms:modified>
</cp:coreProperties>
</file>